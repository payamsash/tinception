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2"/>
  </p:notesMasterIdLst>
  <p:sldIdLst>
    <p:sldId id="257" r:id="rId2"/>
    <p:sldId id="279" r:id="rId3"/>
    <p:sldId id="264" r:id="rId4"/>
    <p:sldId id="281" r:id="rId5"/>
    <p:sldId id="278" r:id="rId6"/>
    <p:sldId id="265" r:id="rId7"/>
    <p:sldId id="266" r:id="rId8"/>
    <p:sldId id="275" r:id="rId9"/>
    <p:sldId id="273" r:id="rId10"/>
    <p:sldId id="274" r:id="rId11"/>
  </p:sldIdLst>
  <p:sldSz cx="17311688" cy="9737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7"/>
    <p:restoredTop sz="94737"/>
  </p:normalViewPr>
  <p:slideViewPr>
    <p:cSldViewPr snapToGrid="0">
      <p:cViewPr varScale="1">
        <p:scale>
          <a:sx n="88" d="100"/>
          <a:sy n="88" d="100"/>
        </p:scale>
        <p:origin x="5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0C852-45A8-0B44-A4D0-9A59CF4A6D83}" type="datetimeFigureOut">
              <a:rPr lang="en-CH" smtClean="0"/>
              <a:t>27.01.2026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4DBFC-D1D3-B643-A48A-2B87454FD03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04621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4DBFC-D1D3-B643-A48A-2B87454FD03D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45712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4DBFC-D1D3-B643-A48A-2B87454FD03D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49110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3961" y="1593652"/>
            <a:ext cx="12983766" cy="3390171"/>
          </a:xfrm>
        </p:spPr>
        <p:txBody>
          <a:bodyPr anchor="b"/>
          <a:lstStyle>
            <a:lvl1pPr algn="ctr">
              <a:defRPr sz="8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3961" y="5114560"/>
            <a:ext cx="12983766" cy="2351029"/>
          </a:xfrm>
        </p:spPr>
        <p:txBody>
          <a:bodyPr/>
          <a:lstStyle>
            <a:lvl1pPr marL="0" indent="0" algn="ctr">
              <a:buNone/>
              <a:defRPr sz="3408"/>
            </a:lvl1pPr>
            <a:lvl2pPr marL="649178" indent="0" algn="ctr">
              <a:buNone/>
              <a:defRPr sz="2840"/>
            </a:lvl2pPr>
            <a:lvl3pPr marL="1298357" indent="0" algn="ctr">
              <a:buNone/>
              <a:defRPr sz="2556"/>
            </a:lvl3pPr>
            <a:lvl4pPr marL="1947535" indent="0" algn="ctr">
              <a:buNone/>
              <a:defRPr sz="2272"/>
            </a:lvl4pPr>
            <a:lvl5pPr marL="2596713" indent="0" algn="ctr">
              <a:buNone/>
              <a:defRPr sz="2272"/>
            </a:lvl5pPr>
            <a:lvl6pPr marL="3245891" indent="0" algn="ctr">
              <a:buNone/>
              <a:defRPr sz="2272"/>
            </a:lvl6pPr>
            <a:lvl7pPr marL="3895070" indent="0" algn="ctr">
              <a:buNone/>
              <a:defRPr sz="2272"/>
            </a:lvl7pPr>
            <a:lvl8pPr marL="4544248" indent="0" algn="ctr">
              <a:buNone/>
              <a:defRPr sz="2272"/>
            </a:lvl8pPr>
            <a:lvl9pPr marL="5193426" indent="0" algn="ctr">
              <a:buNone/>
              <a:defRPr sz="227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0808-AFC8-9340-9EED-F4C93CEE7BAE}" type="datetimeFigureOut">
              <a:rPr lang="en-CH" smtClean="0"/>
              <a:t>27.01.2026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8A26-2F61-6143-95D7-E34BE8A77D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83512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0808-AFC8-9340-9EED-F4C93CEE7BAE}" type="datetimeFigureOut">
              <a:rPr lang="en-CH" smtClean="0"/>
              <a:t>27.01.2026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8A26-2F61-6143-95D7-E34BE8A77D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49446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62" y="2427671"/>
            <a:ext cx="14931331" cy="4050622"/>
          </a:xfrm>
        </p:spPr>
        <p:txBody>
          <a:bodyPr anchor="b"/>
          <a:lstStyle>
            <a:lvl1pPr>
              <a:defRPr sz="8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1162" y="6516613"/>
            <a:ext cx="14931331" cy="2130127"/>
          </a:xfrm>
        </p:spPr>
        <p:txBody>
          <a:bodyPr/>
          <a:lstStyle>
            <a:lvl1pPr marL="0" indent="0">
              <a:buNone/>
              <a:defRPr sz="3408">
                <a:solidFill>
                  <a:schemeClr val="tx1">
                    <a:tint val="82000"/>
                  </a:schemeClr>
                </a:solidFill>
              </a:defRPr>
            </a:lvl1pPr>
            <a:lvl2pPr marL="649178" indent="0">
              <a:buNone/>
              <a:defRPr sz="2840">
                <a:solidFill>
                  <a:schemeClr val="tx1">
                    <a:tint val="82000"/>
                  </a:schemeClr>
                </a:solidFill>
              </a:defRPr>
            </a:lvl2pPr>
            <a:lvl3pPr marL="1298357" indent="0">
              <a:buNone/>
              <a:defRPr sz="2556">
                <a:solidFill>
                  <a:schemeClr val="tx1">
                    <a:tint val="82000"/>
                  </a:schemeClr>
                </a:solidFill>
              </a:defRPr>
            </a:lvl3pPr>
            <a:lvl4pPr marL="1947535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4pPr>
            <a:lvl5pPr marL="2596713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5pPr>
            <a:lvl6pPr marL="3245891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6pPr>
            <a:lvl7pPr marL="3895070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7pPr>
            <a:lvl8pPr marL="4544248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8pPr>
            <a:lvl9pPr marL="5193426" indent="0">
              <a:buNone/>
              <a:defRPr sz="22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0808-AFC8-9340-9EED-F4C93CEE7BAE}" type="datetimeFigureOut">
              <a:rPr lang="en-CH" smtClean="0"/>
              <a:t>27.01.2026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8A26-2F61-6143-95D7-E34BE8A77D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43979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0179" y="2592218"/>
            <a:ext cx="7357467" cy="61784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4042" y="2592218"/>
            <a:ext cx="7357467" cy="61784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0808-AFC8-9340-9EED-F4C93CEE7BAE}" type="datetimeFigureOut">
              <a:rPr lang="en-CH" smtClean="0"/>
              <a:t>27.01.2026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8A26-2F61-6143-95D7-E34BE8A77D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84536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433" y="518444"/>
            <a:ext cx="14931331" cy="1882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434" y="2387096"/>
            <a:ext cx="7323655" cy="1169879"/>
          </a:xfrm>
        </p:spPr>
        <p:txBody>
          <a:bodyPr anchor="b"/>
          <a:lstStyle>
            <a:lvl1pPr marL="0" indent="0">
              <a:buNone/>
              <a:defRPr sz="3408" b="1"/>
            </a:lvl1pPr>
            <a:lvl2pPr marL="649178" indent="0">
              <a:buNone/>
              <a:defRPr sz="2840" b="1"/>
            </a:lvl2pPr>
            <a:lvl3pPr marL="1298357" indent="0">
              <a:buNone/>
              <a:defRPr sz="2556" b="1"/>
            </a:lvl3pPr>
            <a:lvl4pPr marL="1947535" indent="0">
              <a:buNone/>
              <a:defRPr sz="2272" b="1"/>
            </a:lvl4pPr>
            <a:lvl5pPr marL="2596713" indent="0">
              <a:buNone/>
              <a:defRPr sz="2272" b="1"/>
            </a:lvl5pPr>
            <a:lvl6pPr marL="3245891" indent="0">
              <a:buNone/>
              <a:defRPr sz="2272" b="1"/>
            </a:lvl6pPr>
            <a:lvl7pPr marL="3895070" indent="0">
              <a:buNone/>
              <a:defRPr sz="2272" b="1"/>
            </a:lvl7pPr>
            <a:lvl8pPr marL="4544248" indent="0">
              <a:buNone/>
              <a:defRPr sz="2272" b="1"/>
            </a:lvl8pPr>
            <a:lvl9pPr marL="5193426" indent="0">
              <a:buNone/>
              <a:defRPr sz="227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2434" y="3556974"/>
            <a:ext cx="7323655" cy="52317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64042" y="2387096"/>
            <a:ext cx="7359722" cy="1169879"/>
          </a:xfrm>
        </p:spPr>
        <p:txBody>
          <a:bodyPr anchor="b"/>
          <a:lstStyle>
            <a:lvl1pPr marL="0" indent="0">
              <a:buNone/>
              <a:defRPr sz="3408" b="1"/>
            </a:lvl1pPr>
            <a:lvl2pPr marL="649178" indent="0">
              <a:buNone/>
              <a:defRPr sz="2840" b="1"/>
            </a:lvl2pPr>
            <a:lvl3pPr marL="1298357" indent="0">
              <a:buNone/>
              <a:defRPr sz="2556" b="1"/>
            </a:lvl3pPr>
            <a:lvl4pPr marL="1947535" indent="0">
              <a:buNone/>
              <a:defRPr sz="2272" b="1"/>
            </a:lvl4pPr>
            <a:lvl5pPr marL="2596713" indent="0">
              <a:buNone/>
              <a:defRPr sz="2272" b="1"/>
            </a:lvl5pPr>
            <a:lvl6pPr marL="3245891" indent="0">
              <a:buNone/>
              <a:defRPr sz="2272" b="1"/>
            </a:lvl6pPr>
            <a:lvl7pPr marL="3895070" indent="0">
              <a:buNone/>
              <a:defRPr sz="2272" b="1"/>
            </a:lvl7pPr>
            <a:lvl8pPr marL="4544248" indent="0">
              <a:buNone/>
              <a:defRPr sz="2272" b="1"/>
            </a:lvl8pPr>
            <a:lvl9pPr marL="5193426" indent="0">
              <a:buNone/>
              <a:defRPr sz="227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64042" y="3556974"/>
            <a:ext cx="7359722" cy="52317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0808-AFC8-9340-9EED-F4C93CEE7BAE}" type="datetimeFigureOut">
              <a:rPr lang="en-CH" smtClean="0"/>
              <a:t>27.01.2026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8A26-2F61-6143-95D7-E34BE8A77D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10116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0808-AFC8-9340-9EED-F4C93CEE7BAE}" type="datetimeFigureOut">
              <a:rPr lang="en-CH" smtClean="0"/>
              <a:t>27.01.2026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8A26-2F61-6143-95D7-E34BE8A77D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02463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0808-AFC8-9340-9EED-F4C93CEE7BAE}" type="datetimeFigureOut">
              <a:rPr lang="en-CH" smtClean="0"/>
              <a:t>27.01.2026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8A26-2F61-6143-95D7-E34BE8A77D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9351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434" y="649182"/>
            <a:ext cx="5583469" cy="2272136"/>
          </a:xfrm>
        </p:spPr>
        <p:txBody>
          <a:bodyPr anchor="b"/>
          <a:lstStyle>
            <a:lvl1pPr>
              <a:defRPr sz="45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9722" y="1402053"/>
            <a:ext cx="8764042" cy="6920096"/>
          </a:xfrm>
        </p:spPr>
        <p:txBody>
          <a:bodyPr/>
          <a:lstStyle>
            <a:lvl1pPr>
              <a:defRPr sz="4544"/>
            </a:lvl1pPr>
            <a:lvl2pPr>
              <a:defRPr sz="3976"/>
            </a:lvl2pPr>
            <a:lvl3pPr>
              <a:defRPr sz="3408"/>
            </a:lvl3pPr>
            <a:lvl4pPr>
              <a:defRPr sz="2840"/>
            </a:lvl4pPr>
            <a:lvl5pPr>
              <a:defRPr sz="2840"/>
            </a:lvl5pPr>
            <a:lvl6pPr>
              <a:defRPr sz="2840"/>
            </a:lvl6pPr>
            <a:lvl7pPr>
              <a:defRPr sz="2840"/>
            </a:lvl7pPr>
            <a:lvl8pPr>
              <a:defRPr sz="2840"/>
            </a:lvl8pPr>
            <a:lvl9pPr>
              <a:defRPr sz="284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2434" y="2921318"/>
            <a:ext cx="5583469" cy="5412102"/>
          </a:xfrm>
        </p:spPr>
        <p:txBody>
          <a:bodyPr/>
          <a:lstStyle>
            <a:lvl1pPr marL="0" indent="0">
              <a:buNone/>
              <a:defRPr sz="2272"/>
            </a:lvl1pPr>
            <a:lvl2pPr marL="649178" indent="0">
              <a:buNone/>
              <a:defRPr sz="1988"/>
            </a:lvl2pPr>
            <a:lvl3pPr marL="1298357" indent="0">
              <a:buNone/>
              <a:defRPr sz="1704"/>
            </a:lvl3pPr>
            <a:lvl4pPr marL="1947535" indent="0">
              <a:buNone/>
              <a:defRPr sz="1420"/>
            </a:lvl4pPr>
            <a:lvl5pPr marL="2596713" indent="0">
              <a:buNone/>
              <a:defRPr sz="1420"/>
            </a:lvl5pPr>
            <a:lvl6pPr marL="3245891" indent="0">
              <a:buNone/>
              <a:defRPr sz="1420"/>
            </a:lvl6pPr>
            <a:lvl7pPr marL="3895070" indent="0">
              <a:buNone/>
              <a:defRPr sz="1420"/>
            </a:lvl7pPr>
            <a:lvl8pPr marL="4544248" indent="0">
              <a:buNone/>
              <a:defRPr sz="1420"/>
            </a:lvl8pPr>
            <a:lvl9pPr marL="5193426" indent="0">
              <a:buNone/>
              <a:defRPr sz="142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0808-AFC8-9340-9EED-F4C93CEE7BAE}" type="datetimeFigureOut">
              <a:rPr lang="en-CH" smtClean="0"/>
              <a:t>27.01.2026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8A26-2F61-6143-95D7-E34BE8A77D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3288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434" y="649182"/>
            <a:ext cx="5583469" cy="2272136"/>
          </a:xfrm>
        </p:spPr>
        <p:txBody>
          <a:bodyPr anchor="b"/>
          <a:lstStyle>
            <a:lvl1pPr>
              <a:defRPr sz="45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59722" y="1402053"/>
            <a:ext cx="8764042" cy="6920096"/>
          </a:xfrm>
        </p:spPr>
        <p:txBody>
          <a:bodyPr anchor="t"/>
          <a:lstStyle>
            <a:lvl1pPr marL="0" indent="0">
              <a:buNone/>
              <a:defRPr sz="4544"/>
            </a:lvl1pPr>
            <a:lvl2pPr marL="649178" indent="0">
              <a:buNone/>
              <a:defRPr sz="3976"/>
            </a:lvl2pPr>
            <a:lvl3pPr marL="1298357" indent="0">
              <a:buNone/>
              <a:defRPr sz="3408"/>
            </a:lvl3pPr>
            <a:lvl4pPr marL="1947535" indent="0">
              <a:buNone/>
              <a:defRPr sz="2840"/>
            </a:lvl4pPr>
            <a:lvl5pPr marL="2596713" indent="0">
              <a:buNone/>
              <a:defRPr sz="2840"/>
            </a:lvl5pPr>
            <a:lvl6pPr marL="3245891" indent="0">
              <a:buNone/>
              <a:defRPr sz="2840"/>
            </a:lvl6pPr>
            <a:lvl7pPr marL="3895070" indent="0">
              <a:buNone/>
              <a:defRPr sz="2840"/>
            </a:lvl7pPr>
            <a:lvl8pPr marL="4544248" indent="0">
              <a:buNone/>
              <a:defRPr sz="2840"/>
            </a:lvl8pPr>
            <a:lvl9pPr marL="5193426" indent="0">
              <a:buNone/>
              <a:defRPr sz="284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2434" y="2921318"/>
            <a:ext cx="5583469" cy="5412102"/>
          </a:xfrm>
        </p:spPr>
        <p:txBody>
          <a:bodyPr/>
          <a:lstStyle>
            <a:lvl1pPr marL="0" indent="0">
              <a:buNone/>
              <a:defRPr sz="2272"/>
            </a:lvl1pPr>
            <a:lvl2pPr marL="649178" indent="0">
              <a:buNone/>
              <a:defRPr sz="1988"/>
            </a:lvl2pPr>
            <a:lvl3pPr marL="1298357" indent="0">
              <a:buNone/>
              <a:defRPr sz="1704"/>
            </a:lvl3pPr>
            <a:lvl4pPr marL="1947535" indent="0">
              <a:buNone/>
              <a:defRPr sz="1420"/>
            </a:lvl4pPr>
            <a:lvl5pPr marL="2596713" indent="0">
              <a:buNone/>
              <a:defRPr sz="1420"/>
            </a:lvl5pPr>
            <a:lvl6pPr marL="3245891" indent="0">
              <a:buNone/>
              <a:defRPr sz="1420"/>
            </a:lvl6pPr>
            <a:lvl7pPr marL="3895070" indent="0">
              <a:buNone/>
              <a:defRPr sz="1420"/>
            </a:lvl7pPr>
            <a:lvl8pPr marL="4544248" indent="0">
              <a:buNone/>
              <a:defRPr sz="1420"/>
            </a:lvl8pPr>
            <a:lvl9pPr marL="5193426" indent="0">
              <a:buNone/>
              <a:defRPr sz="142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0808-AFC8-9340-9EED-F4C93CEE7BAE}" type="datetimeFigureOut">
              <a:rPr lang="en-CH" smtClean="0"/>
              <a:t>27.01.2026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8A26-2F61-6143-95D7-E34BE8A77D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4538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0808-AFC8-9340-9EED-F4C93CEE7BAE}" type="datetimeFigureOut">
              <a:rPr lang="en-CH" smtClean="0"/>
              <a:t>27.01.2026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8A26-2F61-6143-95D7-E34BE8A77D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13442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88677" y="518444"/>
            <a:ext cx="3732833" cy="825227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0179" y="518444"/>
            <a:ext cx="10982102" cy="825227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0808-AFC8-9340-9EED-F4C93CEE7BAE}" type="datetimeFigureOut">
              <a:rPr lang="en-CH" smtClean="0"/>
              <a:t>27.01.2026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A8A26-2F61-6143-95D7-E34BE8A77D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47051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0179" y="518444"/>
            <a:ext cx="14931331" cy="1882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179" y="2592218"/>
            <a:ext cx="14931331" cy="6178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0178" y="9025429"/>
            <a:ext cx="3895130" cy="518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20808-AFC8-9340-9EED-F4C93CEE7BAE}" type="datetimeFigureOut">
              <a:rPr lang="en-CH" smtClean="0"/>
              <a:t>27.01.2026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34497" y="9025429"/>
            <a:ext cx="5842695" cy="518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26380" y="9025429"/>
            <a:ext cx="3895130" cy="518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A8A26-2F61-6143-95D7-E34BE8A77D7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42185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298357" rtl="0" eaLnBrk="1" latinLnBrk="0" hangingPunct="1">
        <a:lnSpc>
          <a:spcPct val="90000"/>
        </a:lnSpc>
        <a:spcBef>
          <a:spcPct val="0"/>
        </a:spcBef>
        <a:buNone/>
        <a:defRPr sz="62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589" indent="-324589" algn="l" defTabSz="1298357" rtl="0" eaLnBrk="1" latinLnBrk="0" hangingPunct="1">
        <a:lnSpc>
          <a:spcPct val="90000"/>
        </a:lnSpc>
        <a:spcBef>
          <a:spcPts val="1420"/>
        </a:spcBef>
        <a:buFont typeface="Arial" panose="020B0604020202020204" pitchFamily="34" charset="0"/>
        <a:buChar char="•"/>
        <a:defRPr sz="3976" kern="1200">
          <a:solidFill>
            <a:schemeClr val="tx1"/>
          </a:solidFill>
          <a:latin typeface="+mn-lt"/>
          <a:ea typeface="+mn-ea"/>
          <a:cs typeface="+mn-cs"/>
        </a:defRPr>
      </a:lvl1pPr>
      <a:lvl2pPr marL="973767" indent="-324589" algn="l" defTabSz="1298357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3408" kern="1200">
          <a:solidFill>
            <a:schemeClr val="tx1"/>
          </a:solidFill>
          <a:latin typeface="+mn-lt"/>
          <a:ea typeface="+mn-ea"/>
          <a:cs typeface="+mn-cs"/>
        </a:defRPr>
      </a:lvl2pPr>
      <a:lvl3pPr marL="1622946" indent="-324589" algn="l" defTabSz="1298357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840" kern="1200">
          <a:solidFill>
            <a:schemeClr val="tx1"/>
          </a:solidFill>
          <a:latin typeface="+mn-lt"/>
          <a:ea typeface="+mn-ea"/>
          <a:cs typeface="+mn-cs"/>
        </a:defRPr>
      </a:lvl3pPr>
      <a:lvl4pPr marL="2272124" indent="-324589" algn="l" defTabSz="1298357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6" kern="1200">
          <a:solidFill>
            <a:schemeClr val="tx1"/>
          </a:solidFill>
          <a:latin typeface="+mn-lt"/>
          <a:ea typeface="+mn-ea"/>
          <a:cs typeface="+mn-cs"/>
        </a:defRPr>
      </a:lvl4pPr>
      <a:lvl5pPr marL="2921302" indent="-324589" algn="l" defTabSz="1298357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6" kern="1200">
          <a:solidFill>
            <a:schemeClr val="tx1"/>
          </a:solidFill>
          <a:latin typeface="+mn-lt"/>
          <a:ea typeface="+mn-ea"/>
          <a:cs typeface="+mn-cs"/>
        </a:defRPr>
      </a:lvl5pPr>
      <a:lvl6pPr marL="3570481" indent="-324589" algn="l" defTabSz="1298357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6" kern="1200">
          <a:solidFill>
            <a:schemeClr val="tx1"/>
          </a:solidFill>
          <a:latin typeface="+mn-lt"/>
          <a:ea typeface="+mn-ea"/>
          <a:cs typeface="+mn-cs"/>
        </a:defRPr>
      </a:lvl6pPr>
      <a:lvl7pPr marL="4219659" indent="-324589" algn="l" defTabSz="1298357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6" kern="1200">
          <a:solidFill>
            <a:schemeClr val="tx1"/>
          </a:solidFill>
          <a:latin typeface="+mn-lt"/>
          <a:ea typeface="+mn-ea"/>
          <a:cs typeface="+mn-cs"/>
        </a:defRPr>
      </a:lvl7pPr>
      <a:lvl8pPr marL="4868837" indent="-324589" algn="l" defTabSz="1298357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6" kern="1200">
          <a:solidFill>
            <a:schemeClr val="tx1"/>
          </a:solidFill>
          <a:latin typeface="+mn-lt"/>
          <a:ea typeface="+mn-ea"/>
          <a:cs typeface="+mn-cs"/>
        </a:defRPr>
      </a:lvl8pPr>
      <a:lvl9pPr marL="5518015" indent="-324589" algn="l" defTabSz="1298357" rtl="0" eaLnBrk="1" latinLnBrk="0" hangingPunct="1">
        <a:lnSpc>
          <a:spcPct val="90000"/>
        </a:lnSpc>
        <a:spcBef>
          <a:spcPts val="710"/>
        </a:spcBef>
        <a:buFont typeface="Arial" panose="020B0604020202020204" pitchFamily="34" charset="0"/>
        <a:buChar char="•"/>
        <a:defRPr sz="25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8357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1pPr>
      <a:lvl2pPr marL="649178" algn="l" defTabSz="1298357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2pPr>
      <a:lvl3pPr marL="1298357" algn="l" defTabSz="1298357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3pPr>
      <a:lvl4pPr marL="1947535" algn="l" defTabSz="1298357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4pPr>
      <a:lvl5pPr marL="2596713" algn="l" defTabSz="1298357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5pPr>
      <a:lvl6pPr marL="3245891" algn="l" defTabSz="1298357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6pPr>
      <a:lvl7pPr marL="3895070" algn="l" defTabSz="1298357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7pPr>
      <a:lvl8pPr marL="4544248" algn="l" defTabSz="1298357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8pPr>
      <a:lvl9pPr marL="5193426" algn="l" defTabSz="1298357" rtl="0" eaLnBrk="1" latinLnBrk="0" hangingPunct="1">
        <a:defRPr sz="25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A4BAE3-5BB3-3B31-0821-F93A4A4EEAB2}"/>
              </a:ext>
            </a:extLst>
          </p:cNvPr>
          <p:cNvSpPr/>
          <p:nvPr/>
        </p:nvSpPr>
        <p:spPr>
          <a:xfrm>
            <a:off x="1272251" y="1638910"/>
            <a:ext cx="3206445" cy="6417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6783">
              <a:defRPr/>
            </a:pPr>
            <a:endParaRPr lang="en-CH" sz="1529">
              <a:solidFill>
                <a:prstClr val="black"/>
              </a:solidFill>
              <a:latin typeface="Trade Gothic Next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B26D0-8699-746A-2D57-03DB1B8E1CCA}"/>
              </a:ext>
            </a:extLst>
          </p:cNvPr>
          <p:cNvSpPr txBox="1"/>
          <p:nvPr/>
        </p:nvSpPr>
        <p:spPr>
          <a:xfrm>
            <a:off x="1193263" y="1089688"/>
            <a:ext cx="2109873" cy="5105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76783">
              <a:defRPr/>
            </a:pPr>
            <a:r>
              <a:rPr lang="en-CH" sz="2718" dirty="0">
                <a:latin typeface="Trade Gothic Next Light" panose="020B0403040303020004" pitchFamily="34" charset="0"/>
              </a:rPr>
              <a:t>TINCEPTION</a:t>
            </a:r>
            <a:endParaRPr lang="en-CH" sz="2718" dirty="0">
              <a:solidFill>
                <a:prstClr val="black"/>
              </a:solidFill>
              <a:latin typeface="Trade Gothic Next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B17B93-105D-0EE5-6FE9-80EE12863B79}"/>
              </a:ext>
            </a:extLst>
          </p:cNvPr>
          <p:cNvSpPr txBox="1"/>
          <p:nvPr/>
        </p:nvSpPr>
        <p:spPr>
          <a:xfrm>
            <a:off x="1272251" y="8874177"/>
            <a:ext cx="857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i="1" dirty="0"/>
              <a:t>Payam</a:t>
            </a:r>
          </a:p>
        </p:txBody>
      </p:sp>
    </p:spTree>
    <p:extLst>
      <p:ext uri="{BB962C8B-B14F-4D97-AF65-F5344CB8AC3E}">
        <p14:creationId xmlns:p14="http://schemas.microsoft.com/office/powerpoint/2010/main" val="2967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2DC72-36AD-3B37-FBFA-362C2EC3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770874-2DA1-5EA8-7956-84434552A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262721"/>
              </p:ext>
            </p:extLst>
          </p:nvPr>
        </p:nvGraphicFramePr>
        <p:xfrm>
          <a:off x="836023" y="975991"/>
          <a:ext cx="15108698" cy="770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406">
                  <a:extLst>
                    <a:ext uri="{9D8B030D-6E8A-4147-A177-3AD203B41FA5}">
                      <a16:colId xmlns:a16="http://schemas.microsoft.com/office/drawing/2014/main" val="154866071"/>
                    </a:ext>
                  </a:extLst>
                </a:gridCol>
                <a:gridCol w="1323252">
                  <a:extLst>
                    <a:ext uri="{9D8B030D-6E8A-4147-A177-3AD203B41FA5}">
                      <a16:colId xmlns:a16="http://schemas.microsoft.com/office/drawing/2014/main" val="42364778"/>
                    </a:ext>
                  </a:extLst>
                </a:gridCol>
                <a:gridCol w="1542674">
                  <a:extLst>
                    <a:ext uri="{9D8B030D-6E8A-4147-A177-3AD203B41FA5}">
                      <a16:colId xmlns:a16="http://schemas.microsoft.com/office/drawing/2014/main" val="1248584845"/>
                    </a:ext>
                  </a:extLst>
                </a:gridCol>
                <a:gridCol w="827113">
                  <a:extLst>
                    <a:ext uri="{9D8B030D-6E8A-4147-A177-3AD203B41FA5}">
                      <a16:colId xmlns:a16="http://schemas.microsoft.com/office/drawing/2014/main" val="3798716957"/>
                    </a:ext>
                  </a:extLst>
                </a:gridCol>
                <a:gridCol w="900881">
                  <a:extLst>
                    <a:ext uri="{9D8B030D-6E8A-4147-A177-3AD203B41FA5}">
                      <a16:colId xmlns:a16="http://schemas.microsoft.com/office/drawing/2014/main" val="2641077764"/>
                    </a:ext>
                  </a:extLst>
                </a:gridCol>
                <a:gridCol w="1107535">
                  <a:extLst>
                    <a:ext uri="{9D8B030D-6E8A-4147-A177-3AD203B41FA5}">
                      <a16:colId xmlns:a16="http://schemas.microsoft.com/office/drawing/2014/main" val="1202707959"/>
                    </a:ext>
                  </a:extLst>
                </a:gridCol>
                <a:gridCol w="1294649">
                  <a:extLst>
                    <a:ext uri="{9D8B030D-6E8A-4147-A177-3AD203B41FA5}">
                      <a16:colId xmlns:a16="http://schemas.microsoft.com/office/drawing/2014/main" val="3968851063"/>
                    </a:ext>
                  </a:extLst>
                </a:gridCol>
                <a:gridCol w="1369045">
                  <a:extLst>
                    <a:ext uri="{9D8B030D-6E8A-4147-A177-3AD203B41FA5}">
                      <a16:colId xmlns:a16="http://schemas.microsoft.com/office/drawing/2014/main" val="3542334546"/>
                    </a:ext>
                  </a:extLst>
                </a:gridCol>
                <a:gridCol w="1387923">
                  <a:extLst>
                    <a:ext uri="{9D8B030D-6E8A-4147-A177-3AD203B41FA5}">
                      <a16:colId xmlns:a16="http://schemas.microsoft.com/office/drawing/2014/main" val="1373742550"/>
                    </a:ext>
                  </a:extLst>
                </a:gridCol>
                <a:gridCol w="1333366">
                  <a:extLst>
                    <a:ext uri="{9D8B030D-6E8A-4147-A177-3AD203B41FA5}">
                      <a16:colId xmlns:a16="http://schemas.microsoft.com/office/drawing/2014/main" val="3310791825"/>
                    </a:ext>
                  </a:extLst>
                </a:gridCol>
                <a:gridCol w="1151888">
                  <a:extLst>
                    <a:ext uri="{9D8B030D-6E8A-4147-A177-3AD203B41FA5}">
                      <a16:colId xmlns:a16="http://schemas.microsoft.com/office/drawing/2014/main" val="4155205335"/>
                    </a:ext>
                  </a:extLst>
                </a:gridCol>
                <a:gridCol w="863918">
                  <a:extLst>
                    <a:ext uri="{9D8B030D-6E8A-4147-A177-3AD203B41FA5}">
                      <a16:colId xmlns:a16="http://schemas.microsoft.com/office/drawing/2014/main" val="1840567034"/>
                    </a:ext>
                  </a:extLst>
                </a:gridCol>
                <a:gridCol w="883048">
                  <a:extLst>
                    <a:ext uri="{9D8B030D-6E8A-4147-A177-3AD203B41FA5}">
                      <a16:colId xmlns:a16="http://schemas.microsoft.com/office/drawing/2014/main" val="3678314909"/>
                    </a:ext>
                  </a:extLst>
                </a:gridCol>
              </a:tblGrid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Partner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Dataset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MRI sequence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F</a:t>
                      </a:r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ield Strength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Acquisition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Co-variates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Tinnitus Loudness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Tinnitus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068754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Andes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Paul Delano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Chile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 + TIV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wait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833170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Antinomics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Patrick Neff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USZ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TFE</a:t>
                      </a: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 + TIV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rgbClr val="C00000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rgbClr val="C00000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wait</a:t>
                      </a:r>
                      <a:endParaRPr lang="en-CH" sz="1200" b="0" i="0" dirty="0">
                        <a:solidFill>
                          <a:srgbClr val="C00000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15437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Cogtail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Martin Meyer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USZ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TFE</a:t>
                      </a: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 + TIV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07931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GB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Erlangen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Nadia Muller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Erlangen</a:t>
                      </a:r>
                      <a:endParaRPr lang="en-CH" sz="1200" b="0" i="1" kern="1200" noProof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wait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23850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ICCAC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Tobias Kleinjung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PUK</a:t>
                      </a:r>
                      <a:endParaRPr lang="en-CH" sz="1200" b="0" i="1" dirty="0">
                        <a:solidFill>
                          <a:srgbClr val="FF0000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TFE</a:t>
                      </a: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 + TIV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ok</a:t>
                      </a:r>
                      <a:endParaRPr lang="en-CH" sz="1200" b="0" i="0" dirty="0">
                        <a:solidFill>
                          <a:srgbClr val="C00000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621738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illinoise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Fatima Husain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illinoise</a:t>
                      </a:r>
                      <a:endParaRPr lang="en-CH" sz="1200" b="0" i="1" dirty="0">
                        <a:solidFill>
                          <a:srgbClr val="FF0000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wait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203005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IndiTMS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Stefan Schoisswohl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1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Institut</a:t>
                      </a:r>
                      <a:r>
                        <a:rPr kumimoji="0" lang="en-GB" sz="12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 f. </a:t>
                      </a:r>
                      <a:r>
                        <a:rPr kumimoji="0" lang="en-GB" sz="1200" b="0" i="1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Neuroradiologie</a:t>
                      </a:r>
                      <a:r>
                        <a:rPr kumimoji="0" lang="en-GB" sz="12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1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GB" sz="12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 BKR Regensburg</a:t>
                      </a:r>
                      <a:endParaRPr kumimoji="0" lang="en-CH" sz="12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MPRAGE</a:t>
                      </a:r>
                      <a:endParaRPr lang="en-CH" sz="1200" b="0" i="0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1.5T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 + TIV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936569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London_1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William Sedley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London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MPM</a:t>
                      </a:r>
                      <a:endParaRPr lang="en-CH" sz="1200" b="0" i="0" kern="1200" noProof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2012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 + TIV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83955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London_2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William Sedley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London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b="0" i="0" kern="1200" noProof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 + TIV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wait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9463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Neuropren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Patrick Neff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1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Institut</a:t>
                      </a:r>
                      <a:r>
                        <a:rPr kumimoji="0" lang="en-GB" sz="12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 f. </a:t>
                      </a:r>
                      <a:r>
                        <a:rPr kumimoji="0" lang="en-GB" sz="1200" b="0" i="1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Neuroradiologie</a:t>
                      </a:r>
                      <a:r>
                        <a:rPr kumimoji="0" lang="en-GB" sz="12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1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GB" sz="12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 BKR Regensburg</a:t>
                      </a:r>
                      <a:endParaRPr kumimoji="0" lang="en-CH" sz="12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MPRAGE</a:t>
                      </a:r>
                      <a:endParaRPr lang="en-CH" sz="1200" b="0" i="0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1.5T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 + TIV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951237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New Castle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William Sedley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New Castle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TFE</a:t>
                      </a:r>
                      <a:endParaRPr lang="en-CH" sz="1200" b="0" i="0" kern="1200" noProof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2014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 + TIV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291809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Tinmeg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Christopher Cederroth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Karolinska Huddinge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MPRAGE</a:t>
                      </a:r>
                      <a:endParaRPr lang="en-CH" sz="1200" b="0" i="0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 + TIV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088397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Tinspect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Patrick Neff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USZ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TFE</a:t>
                      </a: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 + TIV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79734"/>
                  </a:ext>
                </a:extLst>
              </a:tr>
              <a:tr h="378635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Triple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Stefan Schoisswohl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1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Institut</a:t>
                      </a:r>
                      <a:r>
                        <a:rPr kumimoji="0" lang="en-GB" sz="12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 f. </a:t>
                      </a:r>
                      <a:r>
                        <a:rPr kumimoji="0" lang="en-GB" sz="1200" b="0" i="1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Neuroradiologie</a:t>
                      </a:r>
                      <a:r>
                        <a:rPr kumimoji="0" lang="en-GB" sz="12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200" b="0" i="1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GB" sz="12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 BKR Regensburg</a:t>
                      </a:r>
                      <a:endParaRPr kumimoji="0" lang="en-CH" sz="12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TFE</a:t>
                      </a: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 + TIV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157912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Washington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Josef </a:t>
                      </a:r>
                      <a:r>
                        <a:rPr lang="en-GB" sz="1200" b="1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Rauschecker</a:t>
                      </a:r>
                      <a:endParaRPr lang="en-GB" sz="12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Washington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 + TIV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wait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362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616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79208-421B-C400-B22F-BC3E82F6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4EC4D9-B87B-9DF5-1D2F-D3BBF4F387DD}"/>
              </a:ext>
            </a:extLst>
          </p:cNvPr>
          <p:cNvSpPr/>
          <p:nvPr/>
        </p:nvSpPr>
        <p:spPr>
          <a:xfrm>
            <a:off x="1272251" y="1638910"/>
            <a:ext cx="3206445" cy="6417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6783">
              <a:defRPr/>
            </a:pPr>
            <a:endParaRPr lang="en-CH" sz="1529">
              <a:solidFill>
                <a:prstClr val="black"/>
              </a:solidFill>
              <a:latin typeface="Trade Gothic Next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AD4AA-288B-0B90-BD05-7F6271B0219D}"/>
              </a:ext>
            </a:extLst>
          </p:cNvPr>
          <p:cNvSpPr txBox="1"/>
          <p:nvPr/>
        </p:nvSpPr>
        <p:spPr>
          <a:xfrm>
            <a:off x="1193263" y="1248707"/>
            <a:ext cx="1293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76783">
              <a:defRPr/>
            </a:pPr>
            <a:r>
              <a:rPr lang="en-CH" dirty="0">
                <a:latin typeface="Trade Gothic Next Light" panose="020B0403040303020004" pitchFamily="34" charset="0"/>
              </a:rPr>
              <a:t>METADATA</a:t>
            </a:r>
            <a:endParaRPr lang="en-CH" dirty="0">
              <a:solidFill>
                <a:prstClr val="black"/>
              </a:solidFill>
              <a:latin typeface="Trade Gothic Next Ligh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49F9F1-07EC-F97A-1BB9-39A01FA47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199980"/>
              </p:ext>
            </p:extLst>
          </p:nvPr>
        </p:nvGraphicFramePr>
        <p:xfrm>
          <a:off x="1193263" y="2836292"/>
          <a:ext cx="15153757" cy="591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802">
                  <a:extLst>
                    <a:ext uri="{9D8B030D-6E8A-4147-A177-3AD203B41FA5}">
                      <a16:colId xmlns:a16="http://schemas.microsoft.com/office/drawing/2014/main" val="154866071"/>
                    </a:ext>
                  </a:extLst>
                </a:gridCol>
                <a:gridCol w="1225153">
                  <a:extLst>
                    <a:ext uri="{9D8B030D-6E8A-4147-A177-3AD203B41FA5}">
                      <a16:colId xmlns:a16="http://schemas.microsoft.com/office/drawing/2014/main" val="42364778"/>
                    </a:ext>
                  </a:extLst>
                </a:gridCol>
                <a:gridCol w="1064245">
                  <a:extLst>
                    <a:ext uri="{9D8B030D-6E8A-4147-A177-3AD203B41FA5}">
                      <a16:colId xmlns:a16="http://schemas.microsoft.com/office/drawing/2014/main" val="1248584845"/>
                    </a:ext>
                  </a:extLst>
                </a:gridCol>
                <a:gridCol w="1064245">
                  <a:extLst>
                    <a:ext uri="{9D8B030D-6E8A-4147-A177-3AD203B41FA5}">
                      <a16:colId xmlns:a16="http://schemas.microsoft.com/office/drawing/2014/main" val="3798716957"/>
                    </a:ext>
                  </a:extLst>
                </a:gridCol>
                <a:gridCol w="1151931">
                  <a:extLst>
                    <a:ext uri="{9D8B030D-6E8A-4147-A177-3AD203B41FA5}">
                      <a16:colId xmlns:a16="http://schemas.microsoft.com/office/drawing/2014/main" val="2641077764"/>
                    </a:ext>
                  </a:extLst>
                </a:gridCol>
                <a:gridCol w="1110838">
                  <a:extLst>
                    <a:ext uri="{9D8B030D-6E8A-4147-A177-3AD203B41FA5}">
                      <a16:colId xmlns:a16="http://schemas.microsoft.com/office/drawing/2014/main" val="1202707959"/>
                    </a:ext>
                  </a:extLst>
                </a:gridCol>
                <a:gridCol w="1298510">
                  <a:extLst>
                    <a:ext uri="{9D8B030D-6E8A-4147-A177-3AD203B41FA5}">
                      <a16:colId xmlns:a16="http://schemas.microsoft.com/office/drawing/2014/main" val="3968851063"/>
                    </a:ext>
                  </a:extLst>
                </a:gridCol>
                <a:gridCol w="1373128">
                  <a:extLst>
                    <a:ext uri="{9D8B030D-6E8A-4147-A177-3AD203B41FA5}">
                      <a16:colId xmlns:a16="http://schemas.microsoft.com/office/drawing/2014/main" val="3542334546"/>
                    </a:ext>
                  </a:extLst>
                </a:gridCol>
                <a:gridCol w="1392062">
                  <a:extLst>
                    <a:ext uri="{9D8B030D-6E8A-4147-A177-3AD203B41FA5}">
                      <a16:colId xmlns:a16="http://schemas.microsoft.com/office/drawing/2014/main" val="1373742550"/>
                    </a:ext>
                  </a:extLst>
                </a:gridCol>
                <a:gridCol w="1337343">
                  <a:extLst>
                    <a:ext uri="{9D8B030D-6E8A-4147-A177-3AD203B41FA5}">
                      <a16:colId xmlns:a16="http://schemas.microsoft.com/office/drawing/2014/main" val="3310791825"/>
                    </a:ext>
                  </a:extLst>
                </a:gridCol>
                <a:gridCol w="1155324">
                  <a:extLst>
                    <a:ext uri="{9D8B030D-6E8A-4147-A177-3AD203B41FA5}">
                      <a16:colId xmlns:a16="http://schemas.microsoft.com/office/drawing/2014/main" val="4155205335"/>
                    </a:ext>
                  </a:extLst>
                </a:gridCol>
                <a:gridCol w="866495">
                  <a:extLst>
                    <a:ext uri="{9D8B030D-6E8A-4147-A177-3AD203B41FA5}">
                      <a16:colId xmlns:a16="http://schemas.microsoft.com/office/drawing/2014/main" val="1840567034"/>
                    </a:ext>
                  </a:extLst>
                </a:gridCol>
                <a:gridCol w="885681">
                  <a:extLst>
                    <a:ext uri="{9D8B030D-6E8A-4147-A177-3AD203B41FA5}">
                      <a16:colId xmlns:a16="http://schemas.microsoft.com/office/drawing/2014/main" val="1306279099"/>
                    </a:ext>
                  </a:extLst>
                </a:gridCol>
              </a:tblGrid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Partner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Dataset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MRI sequence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F</a:t>
                      </a:r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ield Strength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Acquisition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Co-variates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Tinnitus Loudness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Tinnitus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drops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068754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Tinmeg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Christopher Cederroth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KI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MPRAGE</a:t>
                      </a: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83447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Neuropren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Patrick Neff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RG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MPRAGE</a:t>
                      </a: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1.5T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TL + MML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951237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indiTMS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Stefan Schoisswohl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RG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MPRAGE</a:t>
                      </a: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1.5T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907181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Triple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Stefan Schoisswohl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RG</a:t>
                      </a:r>
                      <a:endParaRPr lang="en-CH" sz="1200" b="0" i="0" dirty="0">
                        <a:solidFill>
                          <a:srgbClr val="C00000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rgbClr val="C00000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TFE</a:t>
                      </a: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157912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Tinspect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Patrick Neff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USZ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TFE</a:t>
                      </a: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TL + MML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630014"/>
                  </a:ext>
                </a:extLst>
              </a:tr>
              <a:tr h="381294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Cogtail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Martin Meyer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USZ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TFE</a:t>
                      </a: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145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460082"/>
                  </a:ext>
                </a:extLst>
              </a:tr>
              <a:tr h="381294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Antinomics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Patrick Neff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USZ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TFE</a:t>
                      </a: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THI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16362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David Talaska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David Talaska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PUK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TFE</a:t>
                      </a: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200" b="0" i="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 + sex + avg PTA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200" b="0" i="0" dirty="0">
                          <a:solidFill>
                            <a:srgbClr val="C00000"/>
                          </a:solidFill>
                          <a:latin typeface="Trade Gothic Next Light" panose="020B04030403030200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993725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London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William Sedley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London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016944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New Castle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William Sedley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New Castle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619485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Chile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200" b="1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Paul Delano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Chile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21052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Rauschecker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Washington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362740"/>
                  </a:ext>
                </a:extLst>
              </a:tr>
              <a:tr h="376296">
                <a:tc>
                  <a:txBody>
                    <a:bodyPr/>
                    <a:lstStyle/>
                    <a:p>
                      <a:pPr algn="ctr"/>
                      <a:r>
                        <a:rPr lang="en-GB" sz="12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Deb lab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Nottingham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391905"/>
                  </a:ext>
                </a:extLst>
              </a:tr>
            </a:tbl>
          </a:graphicData>
        </a:graphic>
      </p:graphicFrame>
      <p:sp>
        <p:nvSpPr>
          <p:cNvPr id="14" name="Left Brace 13">
            <a:extLst>
              <a:ext uri="{FF2B5EF4-FFF2-40B4-BE49-F238E27FC236}">
                <a16:creationId xmlns:a16="http://schemas.microsoft.com/office/drawing/2014/main" id="{6CEEF676-93F5-05F5-B6DD-EE828E6051E8}"/>
              </a:ext>
            </a:extLst>
          </p:cNvPr>
          <p:cNvSpPr/>
          <p:nvPr/>
        </p:nvSpPr>
        <p:spPr>
          <a:xfrm rot="5400000">
            <a:off x="3336349" y="345577"/>
            <a:ext cx="264143" cy="4550315"/>
          </a:xfrm>
          <a:prstGeom prst="leftBrace">
            <a:avLst>
              <a:gd name="adj1" fmla="val 8333"/>
              <a:gd name="adj2" fmla="val 50132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D9D8E-095E-D1EE-CD86-741978A630D4}"/>
              </a:ext>
            </a:extLst>
          </p:cNvPr>
          <p:cNvSpPr txBox="1"/>
          <p:nvPr/>
        </p:nvSpPr>
        <p:spPr>
          <a:xfrm>
            <a:off x="2515883" y="2108367"/>
            <a:ext cx="1905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1600" i="1" dirty="0"/>
              <a:t>general information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26592FB7-DE11-1654-990F-005802D9D9B2}"/>
              </a:ext>
            </a:extLst>
          </p:cNvPr>
          <p:cNvSpPr/>
          <p:nvPr/>
        </p:nvSpPr>
        <p:spPr>
          <a:xfrm rot="5400000">
            <a:off x="7411730" y="863375"/>
            <a:ext cx="264143" cy="3514721"/>
          </a:xfrm>
          <a:prstGeom prst="leftBrace">
            <a:avLst>
              <a:gd name="adj1" fmla="val 8333"/>
              <a:gd name="adj2" fmla="val 50132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A1C325-4529-449A-D99D-379EAC0609E8}"/>
              </a:ext>
            </a:extLst>
          </p:cNvPr>
          <p:cNvSpPr txBox="1"/>
          <p:nvPr/>
        </p:nvSpPr>
        <p:spPr>
          <a:xfrm>
            <a:off x="6775609" y="2108367"/>
            <a:ext cx="15363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1600" i="1" dirty="0"/>
              <a:t>MR information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82BD89E1-A558-EBE8-706F-1E6C41917A3A}"/>
              </a:ext>
            </a:extLst>
          </p:cNvPr>
          <p:cNvSpPr/>
          <p:nvPr/>
        </p:nvSpPr>
        <p:spPr>
          <a:xfrm rot="5400000">
            <a:off x="10576409" y="1256279"/>
            <a:ext cx="264143" cy="2728913"/>
          </a:xfrm>
          <a:prstGeom prst="leftBrace">
            <a:avLst>
              <a:gd name="adj1" fmla="val 8333"/>
              <a:gd name="adj2" fmla="val 50132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EB9C73-BB2D-E6FE-B885-762FDD364125}"/>
              </a:ext>
            </a:extLst>
          </p:cNvPr>
          <p:cNvSpPr txBox="1"/>
          <p:nvPr/>
        </p:nvSpPr>
        <p:spPr>
          <a:xfrm>
            <a:off x="9563839" y="2108367"/>
            <a:ext cx="22892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1600" i="1" dirty="0"/>
              <a:t>behavioural information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58C26D4D-B231-BF40-EA73-15EFA3E66651}"/>
              </a:ext>
            </a:extLst>
          </p:cNvPr>
          <p:cNvSpPr/>
          <p:nvPr/>
        </p:nvSpPr>
        <p:spPr>
          <a:xfrm rot="5400000">
            <a:off x="14099336" y="505125"/>
            <a:ext cx="264143" cy="4231222"/>
          </a:xfrm>
          <a:prstGeom prst="leftBrace">
            <a:avLst>
              <a:gd name="adj1" fmla="val 8333"/>
              <a:gd name="adj2" fmla="val 50132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FD8B96-169D-E110-3804-2D0E8AA34C0C}"/>
              </a:ext>
            </a:extLst>
          </p:cNvPr>
          <p:cNvSpPr txBox="1"/>
          <p:nvPr/>
        </p:nvSpPr>
        <p:spPr>
          <a:xfrm>
            <a:off x="13572087" y="2113247"/>
            <a:ext cx="1318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600" i="1" dirty="0"/>
              <a:t>numbers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78D302-F102-0CAE-3C6C-9AA491D03C79}"/>
              </a:ext>
            </a:extLst>
          </p:cNvPr>
          <p:cNvSpPr/>
          <p:nvPr/>
        </p:nvSpPr>
        <p:spPr>
          <a:xfrm>
            <a:off x="12115795" y="1955878"/>
            <a:ext cx="4438503" cy="6948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1AC835-E7C8-0DE9-5D85-E953A0E55D1B}"/>
              </a:ext>
            </a:extLst>
          </p:cNvPr>
          <p:cNvSpPr/>
          <p:nvPr/>
        </p:nvSpPr>
        <p:spPr>
          <a:xfrm>
            <a:off x="9344020" y="1955877"/>
            <a:ext cx="7045857" cy="6948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89EB88-C217-F7F8-86F9-0AB48D1B7FB1}"/>
              </a:ext>
            </a:extLst>
          </p:cNvPr>
          <p:cNvSpPr/>
          <p:nvPr/>
        </p:nvSpPr>
        <p:spPr>
          <a:xfrm>
            <a:off x="5786436" y="1955877"/>
            <a:ext cx="10564501" cy="6948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9365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0A72F-FA63-27BD-EBF1-31D6238D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EC377F-DC0B-560E-7BC5-332C3D4F5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275"/>
              </p:ext>
            </p:extLst>
          </p:nvPr>
        </p:nvGraphicFramePr>
        <p:xfrm>
          <a:off x="148857" y="168430"/>
          <a:ext cx="9623793" cy="9384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170">
                  <a:extLst>
                    <a:ext uri="{9D8B030D-6E8A-4147-A177-3AD203B41FA5}">
                      <a16:colId xmlns:a16="http://schemas.microsoft.com/office/drawing/2014/main" val="154866071"/>
                    </a:ext>
                  </a:extLst>
                </a:gridCol>
                <a:gridCol w="1480340">
                  <a:extLst>
                    <a:ext uri="{9D8B030D-6E8A-4147-A177-3AD203B41FA5}">
                      <a16:colId xmlns:a16="http://schemas.microsoft.com/office/drawing/2014/main" val="2710416686"/>
                    </a:ext>
                  </a:extLst>
                </a:gridCol>
                <a:gridCol w="829340">
                  <a:extLst>
                    <a:ext uri="{9D8B030D-6E8A-4147-A177-3AD203B41FA5}">
                      <a16:colId xmlns:a16="http://schemas.microsoft.com/office/drawing/2014/main" val="3580543626"/>
                    </a:ext>
                  </a:extLst>
                </a:gridCol>
                <a:gridCol w="1105786">
                  <a:extLst>
                    <a:ext uri="{9D8B030D-6E8A-4147-A177-3AD203B41FA5}">
                      <a16:colId xmlns:a16="http://schemas.microsoft.com/office/drawing/2014/main" val="42364778"/>
                    </a:ext>
                  </a:extLst>
                </a:gridCol>
                <a:gridCol w="1679944">
                  <a:extLst>
                    <a:ext uri="{9D8B030D-6E8A-4147-A177-3AD203B41FA5}">
                      <a16:colId xmlns:a16="http://schemas.microsoft.com/office/drawing/2014/main" val="1248584845"/>
                    </a:ext>
                  </a:extLst>
                </a:gridCol>
                <a:gridCol w="1254642">
                  <a:extLst>
                    <a:ext uri="{9D8B030D-6E8A-4147-A177-3AD203B41FA5}">
                      <a16:colId xmlns:a16="http://schemas.microsoft.com/office/drawing/2014/main" val="3798716957"/>
                    </a:ext>
                  </a:extLst>
                </a:gridCol>
                <a:gridCol w="2627571">
                  <a:extLst>
                    <a:ext uri="{9D8B030D-6E8A-4147-A177-3AD203B41FA5}">
                      <a16:colId xmlns:a16="http://schemas.microsoft.com/office/drawing/2014/main" val="2641077764"/>
                    </a:ext>
                  </a:extLst>
                </a:gridCol>
              </a:tblGrid>
              <a:tr h="351998">
                <a:tc>
                  <a:txBody>
                    <a:bodyPr/>
                    <a:lstStyle/>
                    <a:p>
                      <a:pPr algn="ctr"/>
                      <a:r>
                        <a:rPr lang="en-CH" sz="10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prefix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surname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1" i="0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affiliations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1" i="1" dirty="0">
                          <a:solidFill>
                            <a:srgbClr val="0070C0"/>
                          </a:solidFill>
                          <a:latin typeface="Trade Gothic Next Light" panose="020B0403040303020004" pitchFamily="34" charset="0"/>
                        </a:rPr>
                        <a:t>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068754"/>
                  </a:ext>
                </a:extLst>
              </a:tr>
              <a:tr h="381272">
                <a:tc>
                  <a:txBody>
                    <a:bodyPr/>
                    <a:lstStyle/>
                    <a:p>
                      <a:pPr algn="ctr"/>
                      <a:r>
                        <a:rPr lang="en-CH" sz="10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Payam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Sadeghi Shabestari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1, 2, 3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p</a:t>
                      </a:r>
                      <a:r>
                        <a:rPr lang="en-CH" sz="1000" b="0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ayam.sadeghishabestari@uzh.ch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883447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andes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Simon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San Martin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simonsnm@ug.uchile.cl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743938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andes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Paul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Delano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pdelano@hcuch.cl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229219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andes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Carolina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Delgado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carodede@gmail.com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583815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Antinomics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Philip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Aruliah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philip.aruliah@uzh.ch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910423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Antinomics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Cevincia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155765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Cogtail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Prof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Martin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Meyer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2, 5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martin.meyer@uzh.ch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847176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Cogtail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23669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Cogtail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Sommerhalder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noProof="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nick.sommerhalder@uzh.ch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2957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Erlangen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Nadia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Müller-</a:t>
                      </a:r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Voggel</a:t>
                      </a:r>
                      <a:endParaRPr lang="en-GB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nadia.mueller-voggel@uk-erlangen.de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16116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ICCAC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Prof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Tobias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Kleinjung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1, 2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tobias.kleinjung@usz.ch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997667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illinoise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Prof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Fatima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T. Husain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husainf@illinois.edu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153137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r>
                        <a:rPr lang="en-CH" sz="10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indiTMS + Triple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Stefan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Schoisswohl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8, 9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stefan.schoisswohl@ukr.de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303829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indiTMS + Triple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Prof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Berthold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Langguth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berthold.langguth@medbo.de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306729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indiTMS + Triple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Timm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B. </a:t>
                      </a:r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Poeppl</a:t>
                      </a:r>
                      <a:endParaRPr lang="en-GB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timm.poeppl@medbo.de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41588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London &amp; New-castle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Prof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William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Sedley</a:t>
                      </a:r>
                      <a:endParaRPr lang="en-GB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william.sedley@newcastle.ac.uk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996502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London &amp; New-castle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Ekaterina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Yukhnovich</a:t>
                      </a:r>
                      <a:endParaRPr lang="en-GB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Kate.Yukhnovich@newcastle.ac.uk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35589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Tinmeg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Christopher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R. </a:t>
                      </a:r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Cederroth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christopher.cederroth@uni-tuebingen.de</a:t>
                      </a:r>
                      <a:endParaRPr lang="en-CH" sz="1000" b="0" i="1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951237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Tinmeg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Niklas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K. </a:t>
                      </a:r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Edvall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niklas.edvall@ki.se</a:t>
                      </a:r>
                      <a:endParaRPr lang="en-CH" sz="1000" b="0" i="1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76891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Washington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Prof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Josef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P. </a:t>
                      </a:r>
                      <a:r>
                        <a:rPr lang="en-GB" sz="1000" b="0" i="1" kern="1200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Rauschecker</a:t>
                      </a:r>
                      <a:endParaRPr lang="en-CH" sz="1000" b="0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rauschej@georgetown.edu</a:t>
                      </a:r>
                      <a:endParaRPr lang="en-CH" sz="1000" b="0" i="1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898754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r>
                        <a:rPr lang="en-CH" sz="1000" b="1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Geneva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Harry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H. Behjat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14, 15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harry.behjat@med.lu.se</a:t>
                      </a:r>
                      <a:endParaRPr lang="en-CH" sz="1000" b="0" i="1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907181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Geneva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Prof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Dimitri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Van De Ville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15, 16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dimitri.vandeville@epfl.ch</a:t>
                      </a:r>
                      <a:endParaRPr lang="en-CH" sz="1000" b="0" i="1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157912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Freiburg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Mr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Adrian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Naas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17, 18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adrian.naas@unifr.ch</a:t>
                      </a:r>
                      <a:endParaRPr lang="en-CH" sz="1000" b="0" i="1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625919"/>
                  </a:ext>
                </a:extLst>
              </a:tr>
              <a:tr h="351998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UKB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Erdil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Ertunc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ertunc.erdil@vision.ee.ethz.ch</a:t>
                      </a:r>
                      <a:endParaRPr lang="en-CH" sz="1000" b="0" i="1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197522"/>
                  </a:ext>
                </a:extLst>
              </a:tr>
              <a:tr h="298746">
                <a:tc>
                  <a:txBody>
                    <a:bodyPr/>
                    <a:lstStyle/>
                    <a:p>
                      <a:pPr algn="ctr"/>
                      <a:endParaRPr lang="en-CH" sz="1000" b="1" i="1" kern="1200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UKB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Prof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Konukoglu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dirty="0" err="1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ender.konukoglu@vision.ee.ethz.ch</a:t>
                      </a:r>
                      <a:endParaRPr lang="en-CH" sz="1000" b="0" i="1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700000"/>
                  </a:ext>
                </a:extLst>
              </a:tr>
              <a:tr h="256607">
                <a:tc>
                  <a:txBody>
                    <a:bodyPr/>
                    <a:lstStyle/>
                    <a:p>
                      <a:pPr algn="ctr"/>
                      <a:endParaRPr lang="en-CH" sz="1000" b="1" i="1" dirty="0">
                        <a:solidFill>
                          <a:schemeClr val="tx1"/>
                        </a:solidFill>
                        <a:latin typeface="Trade Gothic Next Light" panose="020B040304030302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983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Tinspect + Neuropren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Patrick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Neff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i="1" kern="1200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  <a:ea typeface="+mn-ea"/>
                          <a:cs typeface="+mn-cs"/>
                        </a:rPr>
                        <a:t>1, 3, 8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p</a:t>
                      </a:r>
                      <a:r>
                        <a:rPr lang="en-CH" sz="1000" b="0" i="1" dirty="0">
                          <a:solidFill>
                            <a:schemeClr val="tx1"/>
                          </a:solidFill>
                          <a:latin typeface="Trade Gothic Next Light" panose="020B0403040303020004" pitchFamily="34" charset="0"/>
                        </a:rPr>
                        <a:t>atrick.neff@uzh.ch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0163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7F963C8-BB74-E08B-ACF0-8F0A410B1339}"/>
              </a:ext>
            </a:extLst>
          </p:cNvPr>
          <p:cNvSpPr txBox="1"/>
          <p:nvPr/>
        </p:nvSpPr>
        <p:spPr>
          <a:xfrm>
            <a:off x="10091675" y="659405"/>
            <a:ext cx="7220014" cy="564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Department of Otorhinolaryngology, Head and Neck Surgery, University Hospital Zurich, University of Zurich, Switzerland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Neuroscience </a:t>
            </a:r>
            <a:r>
              <a:rPr lang="en-GB" sz="1100" i="1" dirty="0" err="1">
                <a:latin typeface="Trade Gothic Next Light" panose="020B0403040303020004" pitchFamily="34" charset="0"/>
              </a:rPr>
              <a:t>Center</a:t>
            </a:r>
            <a:r>
              <a:rPr lang="en-GB" sz="1100" i="1" dirty="0">
                <a:latin typeface="Trade Gothic Next Light" panose="020B0403040303020004" pitchFamily="34" charset="0"/>
              </a:rPr>
              <a:t> Zürich (ZNZ), ETH Zürich and University of Zürich, Zürich, Switzerland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Computer Vision Lab., ETH Zurich, Zurich, Switzerland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Departamento de </a:t>
            </a:r>
            <a:r>
              <a:rPr lang="en-GB" sz="1100" i="1" dirty="0" err="1">
                <a:latin typeface="Trade Gothic Next Light" panose="020B0403040303020004" pitchFamily="34" charset="0"/>
              </a:rPr>
              <a:t>Neurociencia</a:t>
            </a:r>
            <a:r>
              <a:rPr lang="en-GB" sz="1100" i="1" dirty="0">
                <a:latin typeface="Trade Gothic Next Light" panose="020B0403040303020004" pitchFamily="34" charset="0"/>
              </a:rPr>
              <a:t>, </a:t>
            </a:r>
            <a:r>
              <a:rPr lang="en-GB" sz="1100" i="1" dirty="0" err="1">
                <a:latin typeface="Trade Gothic Next Light" panose="020B0403040303020004" pitchFamily="34" charset="0"/>
              </a:rPr>
              <a:t>Facultad</a:t>
            </a:r>
            <a:r>
              <a:rPr lang="en-GB" sz="1100" i="1" dirty="0">
                <a:latin typeface="Trade Gothic Next Light" panose="020B0403040303020004" pitchFamily="34" charset="0"/>
              </a:rPr>
              <a:t> de Medicina, Universidad de Chile, Santiago, Chile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MEG </a:t>
            </a:r>
            <a:r>
              <a:rPr lang="en-GB" sz="1100" i="1" dirty="0" err="1">
                <a:latin typeface="Trade Gothic Next Light" panose="020B0403040303020004" pitchFamily="34" charset="0"/>
              </a:rPr>
              <a:t>CenEvolutionary</a:t>
            </a:r>
            <a:r>
              <a:rPr lang="en-GB" sz="1100" i="1" dirty="0">
                <a:latin typeface="Trade Gothic Next Light" panose="020B0403040303020004" pitchFamily="34" charset="0"/>
              </a:rPr>
              <a:t> Neuroscience of Language, Department of Comparative Language Science, University of Zurich, Zurich, Switzerland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MEG </a:t>
            </a:r>
            <a:r>
              <a:rPr lang="en-GB" sz="1100" i="1" dirty="0" err="1">
                <a:latin typeface="Trade Gothic Next Light" panose="020B0403040303020004" pitchFamily="34" charset="0"/>
              </a:rPr>
              <a:t>center</a:t>
            </a:r>
            <a:r>
              <a:rPr lang="en-GB" sz="1100" i="1" dirty="0">
                <a:latin typeface="Trade Gothic Next Light" panose="020B0403040303020004" pitchFamily="34" charset="0"/>
              </a:rPr>
              <a:t>, University Hospital Erlangen, Erlangen, Germany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Department of Speech and Hearing Science, University of Illinois Urbana-Champaign, Champaign, IL, USA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Department of Psychiatry and Psychotherapy, University of Regensburg, Regensburg, Germany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Department of Psychology, </a:t>
            </a:r>
            <a:r>
              <a:rPr lang="en-GB" sz="1100" i="1" dirty="0" err="1">
                <a:latin typeface="Trade Gothic Next Light" panose="020B0403040303020004" pitchFamily="34" charset="0"/>
              </a:rPr>
              <a:t>Universitaet</a:t>
            </a:r>
            <a:r>
              <a:rPr lang="en-GB" sz="1100" i="1" dirty="0">
                <a:latin typeface="Trade Gothic Next Light" panose="020B0403040303020004" pitchFamily="34" charset="0"/>
              </a:rPr>
              <a:t> der Bundeswehr Muenchen, </a:t>
            </a:r>
            <a:r>
              <a:rPr lang="en-GB" sz="1100" i="1" dirty="0" err="1">
                <a:latin typeface="Trade Gothic Next Light" panose="020B0403040303020004" pitchFamily="34" charset="0"/>
              </a:rPr>
              <a:t>Neubiberg</a:t>
            </a:r>
            <a:r>
              <a:rPr lang="en-GB" sz="1100" i="1" dirty="0">
                <a:latin typeface="Trade Gothic Next Light" panose="020B0403040303020004" pitchFamily="34" charset="0"/>
              </a:rPr>
              <a:t>, Germany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Newcastle University Medical School, Newcastle Upon Tyne, NE2 4HH, UK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Translational Hearing Research, Tübingen Hearing Research </a:t>
            </a:r>
            <a:r>
              <a:rPr lang="en-GB" sz="1100" i="1" dirty="0" err="1">
                <a:latin typeface="Trade Gothic Next Light" panose="020B0403040303020004" pitchFamily="34" charset="0"/>
              </a:rPr>
              <a:t>Center</a:t>
            </a:r>
            <a:r>
              <a:rPr lang="en-GB" sz="1100" i="1" dirty="0">
                <a:latin typeface="Trade Gothic Next Light" panose="020B0403040303020004" pitchFamily="34" charset="0"/>
              </a:rPr>
              <a:t>, Department of Otolaryngology, Head and Neck Surgery, University of Tübingen, Tübingen, Germany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Laboratory of Translational Auditory Neuroscience, Department of Physiology and Pharmacology, Karolinska Institute, Stockholm, Sweden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Department of Neuroscience, Georgetown University, Washington, DC 20057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Department of Clinical Sciences Malm\"{o}, Lund University, Lund, Sweden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Neuro-X Institute, Ecole Polytechnique Fédérale de Lausanne (EPFL), Campus Biotech, Geneva, Switzerland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Department of Radiology and Medical Informatics, University of Geneva, Geneva, Switzerland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Bern University of Applied Sciences, Business School, Institute New Work, Bern, Switzerland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 sz="1100" i="1" dirty="0">
                <a:latin typeface="Trade Gothic Next Light" panose="020B0403040303020004" pitchFamily="34" charset="0"/>
              </a:rPr>
              <a:t>University of Fribourg/Freiburg, Department of Psychology, Fribourg/Freiburg, Switzerland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99213-7B33-1AF2-DA46-6A9E2701C23A}"/>
              </a:ext>
            </a:extLst>
          </p:cNvPr>
          <p:cNvSpPr txBox="1"/>
          <p:nvPr/>
        </p:nvSpPr>
        <p:spPr>
          <a:xfrm>
            <a:off x="-7670015" y="2551815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i="1" dirty="0">
              <a:latin typeface="Trade Gothic Next Light" panose="020B0403040303020004" pitchFamily="34" charset="0"/>
            </a:endParaRP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96931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51E9-B51D-96B2-0CCC-0353E93F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F2D2BE-0A41-1F40-1A61-3EEDA209D2B4}"/>
              </a:ext>
            </a:extLst>
          </p:cNvPr>
          <p:cNvSpPr/>
          <p:nvPr/>
        </p:nvSpPr>
        <p:spPr>
          <a:xfrm>
            <a:off x="1272251" y="1638910"/>
            <a:ext cx="3206445" cy="6417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6783">
              <a:defRPr/>
            </a:pPr>
            <a:endParaRPr lang="en-CH" sz="1529">
              <a:solidFill>
                <a:prstClr val="black"/>
              </a:solidFill>
              <a:latin typeface="Trade Gothic Next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94856-FA9D-2AE8-7163-16B15E0997D3}"/>
              </a:ext>
            </a:extLst>
          </p:cNvPr>
          <p:cNvSpPr txBox="1"/>
          <p:nvPr/>
        </p:nvSpPr>
        <p:spPr>
          <a:xfrm>
            <a:off x="1164688" y="1269578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76783">
              <a:defRPr/>
            </a:pPr>
            <a:r>
              <a:rPr lang="en-CH" dirty="0">
                <a:latin typeface="Trade Gothic Next Light" panose="020B0403040303020004" pitchFamily="34" charset="0"/>
              </a:rPr>
              <a:t>Procedure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1A87BA-152D-52D4-B320-4E986C8AE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5222" y="7675622"/>
            <a:ext cx="9461244" cy="206210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600" i="1" dirty="0"/>
              <a:t>Should one of the sites be used as the validation dataset?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CH" altLang="en-CH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 the dataset balanced and of good quality?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Does it truly qualify as a large sample?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should the groups be matched?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CH" altLang="en-CH" sz="1600" i="1" dirty="0">
                <a:solidFill>
                  <a:srgbClr val="000000"/>
                </a:solidFill>
                <a:latin typeface="Arial" panose="020B0604020202020204" pitchFamily="34" charset="0"/>
              </a:rPr>
              <a:t>Do I need harmonization?</a:t>
            </a:r>
            <a:endParaRPr kumimoji="0" lang="en-CH" altLang="en-CH" sz="1600" b="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Can this dataset be used to examine the relationship between MRI measures and tinnitus severity?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Should I include Antinomics dataset?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Should we account for HL and HA?</a:t>
            </a:r>
            <a:endParaRPr kumimoji="0" lang="en-CH" altLang="en-CH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DA04F-6FB9-DEDC-F2AA-D64138F86BF9}"/>
              </a:ext>
            </a:extLst>
          </p:cNvPr>
          <p:cNvSpPr txBox="1"/>
          <p:nvPr/>
        </p:nvSpPr>
        <p:spPr>
          <a:xfrm>
            <a:off x="1164688" y="2343151"/>
            <a:ext cx="1100916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C</a:t>
            </a:r>
            <a:r>
              <a:rPr lang="en-CH" dirty="0"/>
              <a:t>reate a master file to map old and new ids and age, sex, PTA, has tinnitus, THI if possible, site information</a:t>
            </a:r>
          </a:p>
          <a:p>
            <a:pPr marL="342900" indent="-342900">
              <a:buFont typeface="+mj-lt"/>
              <a:buAutoNum type="arabicPeriod"/>
            </a:pPr>
            <a:r>
              <a:rPr lang="en-CH" dirty="0"/>
              <a:t>plot demographics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R</a:t>
            </a:r>
            <a:r>
              <a:rPr lang="en-CH" dirty="0"/>
              <a:t>un FS on all</a:t>
            </a:r>
          </a:p>
          <a:p>
            <a:pPr marL="342900" indent="-342900">
              <a:buFont typeface="+mj-lt"/>
              <a:buAutoNum type="arabicPeriod"/>
            </a:pPr>
            <a:r>
              <a:rPr lang="en-CH" dirty="0"/>
              <a:t>Run subsegmentation on all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R</a:t>
            </a:r>
            <a:r>
              <a:rPr lang="en-CH" dirty="0"/>
              <a:t>un quality control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</a:t>
            </a:r>
            <a:r>
              <a:rPr lang="en-CH" dirty="0"/>
              <a:t>reate VBM dir / neuroharmonize / run VBM</a:t>
            </a:r>
          </a:p>
          <a:p>
            <a:pPr marL="342900" indent="-342900">
              <a:buFont typeface="+mj-lt"/>
              <a:buAutoNum type="arabicPeriod"/>
            </a:pPr>
            <a:r>
              <a:rPr lang="en-CH" dirty="0"/>
              <a:t>Create SBM dir and run it (thickness + area + volume)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R</a:t>
            </a:r>
            <a:r>
              <a:rPr lang="en-CH" dirty="0"/>
              <a:t>un stats / neuroharmonize / on subcortical volumes or NM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R</a:t>
            </a:r>
            <a:r>
              <a:rPr lang="en-CH" dirty="0"/>
              <a:t>un MIND on all on schaefer 1000 only</a:t>
            </a:r>
          </a:p>
          <a:p>
            <a:pPr marL="342900" indent="-342900">
              <a:buFont typeface="+mj-lt"/>
              <a:buAutoNum type="arabicPeriod"/>
            </a:pPr>
            <a:r>
              <a:rPr lang="en-CH" dirty="0"/>
              <a:t>Run NM on MIND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</a:t>
            </a:r>
            <a:r>
              <a:rPr lang="en-CH" dirty="0"/>
              <a:t>heck some correlations with deviations or MDS plot of gradients of SSA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</a:t>
            </a:r>
            <a:r>
              <a:rPr lang="en-CH" dirty="0"/>
              <a:t>heck spatial co-localization</a:t>
            </a:r>
          </a:p>
          <a:p>
            <a:r>
              <a:rPr lang="en-CH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10232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A0BAF-2C83-CFDE-52CC-9E7A69337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842691-253E-2F07-DEBD-4B85FFB8DA5C}"/>
              </a:ext>
            </a:extLst>
          </p:cNvPr>
          <p:cNvSpPr/>
          <p:nvPr/>
        </p:nvSpPr>
        <p:spPr>
          <a:xfrm>
            <a:off x="1272251" y="1638910"/>
            <a:ext cx="3206445" cy="6417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6783">
              <a:defRPr/>
            </a:pPr>
            <a:endParaRPr lang="en-CH" sz="1529">
              <a:solidFill>
                <a:prstClr val="black"/>
              </a:solidFill>
              <a:latin typeface="Trade Gothic Next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22AD4-8EBC-6554-044B-8881BD234A02}"/>
              </a:ext>
            </a:extLst>
          </p:cNvPr>
          <p:cNvSpPr txBox="1"/>
          <p:nvPr/>
        </p:nvSpPr>
        <p:spPr>
          <a:xfrm>
            <a:off x="1193263" y="1089688"/>
            <a:ext cx="3033779" cy="5105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76783">
              <a:defRPr/>
            </a:pPr>
            <a:r>
              <a:rPr lang="en-CH" sz="2718" dirty="0">
                <a:latin typeface="Trade Gothic Next Light" panose="020B0403040303020004" pitchFamily="34" charset="0"/>
              </a:rPr>
              <a:t>Exploratory Checks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82ED54-5BBA-9A82-A913-74C94D10A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319" y="8098815"/>
            <a:ext cx="9461244" cy="206210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600" i="1" dirty="0"/>
              <a:t>Should one of the sites be used as the validation dataset?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CH" altLang="en-CH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 the dataset balanced and of good quality?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Does it truly qualify as a large sample?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should the groups be matched?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CH" altLang="en-CH" sz="1600" i="1" dirty="0">
                <a:solidFill>
                  <a:srgbClr val="000000"/>
                </a:solidFill>
                <a:latin typeface="Arial" panose="020B0604020202020204" pitchFamily="34" charset="0"/>
              </a:rPr>
              <a:t>Do I need harmonization?</a:t>
            </a:r>
            <a:endParaRPr kumimoji="0" lang="en-CH" altLang="en-CH" sz="1600" b="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Can this dataset be used to examine the relationship between MRI measures and tinnitus severity?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Should I include Antinomics dataset?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Should we account for HL and HA?</a:t>
            </a:r>
            <a:endParaRPr kumimoji="0" lang="en-CH" altLang="en-CH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031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71D6-C485-41CD-2899-5A126D86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6DF96B-402A-65D1-9B81-AC5FF496D54A}"/>
              </a:ext>
            </a:extLst>
          </p:cNvPr>
          <p:cNvSpPr/>
          <p:nvPr/>
        </p:nvSpPr>
        <p:spPr>
          <a:xfrm>
            <a:off x="1272251" y="1638910"/>
            <a:ext cx="3206445" cy="6417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6783">
              <a:defRPr/>
            </a:pPr>
            <a:endParaRPr lang="en-CH" sz="1529">
              <a:solidFill>
                <a:prstClr val="black"/>
              </a:solidFill>
              <a:latin typeface="Trade Gothic Next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C51F3E-EB2E-98FD-ABB2-5F083CFD1076}"/>
              </a:ext>
            </a:extLst>
          </p:cNvPr>
          <p:cNvSpPr txBox="1"/>
          <p:nvPr/>
        </p:nvSpPr>
        <p:spPr>
          <a:xfrm>
            <a:off x="1193263" y="1089688"/>
            <a:ext cx="3789371" cy="5105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76783">
              <a:defRPr/>
            </a:pPr>
            <a:r>
              <a:rPr lang="en-CH" sz="2718" dirty="0">
                <a:latin typeface="Trade Gothic Next Light" panose="020B0403040303020004" pitchFamily="34" charset="0"/>
              </a:rPr>
              <a:t>Matching and Balancing</a:t>
            </a:r>
          </a:p>
        </p:txBody>
      </p:sp>
    </p:spTree>
    <p:extLst>
      <p:ext uri="{BB962C8B-B14F-4D97-AF65-F5344CB8AC3E}">
        <p14:creationId xmlns:p14="http://schemas.microsoft.com/office/powerpoint/2010/main" val="398619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F8F4F-AC36-A365-B09A-1DDF7B54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0F1C10-20B6-1CC6-C2E9-44C8A4411D3B}"/>
              </a:ext>
            </a:extLst>
          </p:cNvPr>
          <p:cNvSpPr/>
          <p:nvPr/>
        </p:nvSpPr>
        <p:spPr>
          <a:xfrm>
            <a:off x="1272251" y="1638910"/>
            <a:ext cx="3206445" cy="6417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6783">
              <a:defRPr/>
            </a:pPr>
            <a:endParaRPr lang="en-CH" sz="1529">
              <a:solidFill>
                <a:prstClr val="black"/>
              </a:solidFill>
              <a:latin typeface="Trade Gothic Next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841799-3604-D787-2539-6BEED38E1AA2}"/>
              </a:ext>
            </a:extLst>
          </p:cNvPr>
          <p:cNvSpPr txBox="1"/>
          <p:nvPr/>
        </p:nvSpPr>
        <p:spPr>
          <a:xfrm>
            <a:off x="1193263" y="1089688"/>
            <a:ext cx="3468065" cy="5105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76783">
              <a:defRPr/>
            </a:pPr>
            <a:r>
              <a:rPr lang="de-CH" sz="2718" dirty="0" err="1">
                <a:latin typeface="Trade Gothic Next Light" panose="020B0403040303020004" pitchFamily="34" charset="0"/>
              </a:rPr>
              <a:t>Spatial</a:t>
            </a:r>
            <a:r>
              <a:rPr lang="de-CH" sz="2718" dirty="0">
                <a:latin typeface="Trade Gothic Next Light" panose="020B0403040303020004" pitchFamily="34" charset="0"/>
              </a:rPr>
              <a:t> Co-</a:t>
            </a:r>
            <a:r>
              <a:rPr lang="de-CH" sz="2718" dirty="0" err="1">
                <a:latin typeface="Trade Gothic Next Light" panose="020B0403040303020004" pitchFamily="34" charset="0"/>
              </a:rPr>
              <a:t>localization</a:t>
            </a:r>
            <a:endParaRPr lang="en-CH" sz="2718" dirty="0">
              <a:latin typeface="Trade Gothic Next Light" panose="020B04030403030200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6EF85-2BA1-507B-B7A4-359DB632D5DC}"/>
              </a:ext>
            </a:extLst>
          </p:cNvPr>
          <p:cNvSpPr txBox="1"/>
          <p:nvPr/>
        </p:nvSpPr>
        <p:spPr>
          <a:xfrm>
            <a:off x="4329113" y="4687371"/>
            <a:ext cx="8658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https://nispace.readthedocs.io/en/latest/nb_examples/freesurfer.html</a:t>
            </a:r>
          </a:p>
        </p:txBody>
      </p:sp>
    </p:spTree>
    <p:extLst>
      <p:ext uri="{BB962C8B-B14F-4D97-AF65-F5344CB8AC3E}">
        <p14:creationId xmlns:p14="http://schemas.microsoft.com/office/powerpoint/2010/main" val="63102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E1B99-9E5A-A065-D1A1-9DDE76440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63061D-1DA3-3ACC-D8A5-955894F893BE}"/>
              </a:ext>
            </a:extLst>
          </p:cNvPr>
          <p:cNvSpPr/>
          <p:nvPr/>
        </p:nvSpPr>
        <p:spPr>
          <a:xfrm>
            <a:off x="1272251" y="1638910"/>
            <a:ext cx="3206445" cy="6417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6783">
              <a:defRPr/>
            </a:pPr>
            <a:endParaRPr lang="en-CH" sz="1529">
              <a:solidFill>
                <a:prstClr val="black"/>
              </a:solidFill>
              <a:latin typeface="Trade Gothic Next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4C697-FCB0-2A2F-FF8A-2884B8218518}"/>
              </a:ext>
            </a:extLst>
          </p:cNvPr>
          <p:cNvSpPr txBox="1"/>
          <p:nvPr/>
        </p:nvSpPr>
        <p:spPr>
          <a:xfrm>
            <a:off x="1193263" y="1089688"/>
            <a:ext cx="2898550" cy="5105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76783">
              <a:defRPr/>
            </a:pPr>
            <a:r>
              <a:rPr lang="en-CH" sz="2718" dirty="0">
                <a:latin typeface="Trade Gothic Next Light" panose="020B0403040303020004" pitchFamily="34" charset="0"/>
              </a:rPr>
              <a:t>SSA and gradients</a:t>
            </a:r>
          </a:p>
        </p:txBody>
      </p:sp>
    </p:spTree>
    <p:extLst>
      <p:ext uri="{BB962C8B-B14F-4D97-AF65-F5344CB8AC3E}">
        <p14:creationId xmlns:p14="http://schemas.microsoft.com/office/powerpoint/2010/main" val="380924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3488-2608-72B7-7704-D854588AB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3AE24F-9A48-664D-421A-2A865F975094}"/>
              </a:ext>
            </a:extLst>
          </p:cNvPr>
          <p:cNvSpPr/>
          <p:nvPr/>
        </p:nvSpPr>
        <p:spPr>
          <a:xfrm>
            <a:off x="1272251" y="1638910"/>
            <a:ext cx="3206445" cy="6417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76783">
              <a:defRPr/>
            </a:pPr>
            <a:endParaRPr lang="en-CH" sz="1529">
              <a:solidFill>
                <a:prstClr val="black"/>
              </a:solidFill>
              <a:latin typeface="Trade Gothic Next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79CB3-1894-593B-C389-DDD409460341}"/>
              </a:ext>
            </a:extLst>
          </p:cNvPr>
          <p:cNvSpPr txBox="1"/>
          <p:nvPr/>
        </p:nvSpPr>
        <p:spPr>
          <a:xfrm>
            <a:off x="1193263" y="1089688"/>
            <a:ext cx="4118435" cy="5105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76783">
              <a:defRPr/>
            </a:pPr>
            <a:r>
              <a:rPr lang="en-GB" sz="2718" dirty="0">
                <a:latin typeface="Trade Gothic Next Light" panose="020B0403040303020004" pitchFamily="34" charset="0"/>
              </a:rPr>
              <a:t>G</a:t>
            </a:r>
            <a:r>
              <a:rPr lang="en-CH" sz="2718" dirty="0">
                <a:latin typeface="Trade Gothic Next Light" panose="020B0403040303020004" pitchFamily="34" charset="0"/>
              </a:rPr>
              <a:t>radients (individual level)</a:t>
            </a:r>
          </a:p>
        </p:txBody>
      </p:sp>
    </p:spTree>
    <p:extLst>
      <p:ext uri="{BB962C8B-B14F-4D97-AF65-F5344CB8AC3E}">
        <p14:creationId xmlns:p14="http://schemas.microsoft.com/office/powerpoint/2010/main" val="2958129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997</TotalTime>
  <Words>1399</Words>
  <Application>Microsoft Macintosh PowerPoint</Application>
  <PresentationFormat>Custom</PresentationFormat>
  <Paragraphs>468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Trade Gothic Next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Payam Sadeghi Shabestari</dc:creator>
  <cp:lastModifiedBy>Payam Sadeghi Shabestari</cp:lastModifiedBy>
  <cp:revision>90</cp:revision>
  <dcterms:created xsi:type="dcterms:W3CDTF">2025-11-07T10:51:39Z</dcterms:created>
  <dcterms:modified xsi:type="dcterms:W3CDTF">2026-01-27T19:11:14Z</dcterms:modified>
</cp:coreProperties>
</file>